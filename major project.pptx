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mo" panose="020B0604020202020204" charset="0"/>
      <p:regular r:id="rId12"/>
    </p:embeddedFont>
    <p:embeddedFont>
      <p:font typeface="Source Serif Pro" panose="020F0502020204030204" pitchFamily="18" charset="0"/>
      <p:regular r:id="rId13"/>
    </p:embeddedFont>
    <p:embeddedFont>
      <p:font typeface="Source Serif Pro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3108274"/>
            <a:ext cx="16303523" cy="182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Recommendation System Using Collaborative Filtering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5276850"/>
            <a:ext cx="16303523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 deep dive into building personalized movie recommendations using the MovieLens dataset — from exploratory data analysis to SVD-based matrix factorization and cosine similarity.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6588766"/>
            <a:ext cx="5728249" cy="532809"/>
            <a:chOff x="0" y="0"/>
            <a:chExt cx="7637666" cy="7104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37653" cy="710438"/>
            </a:xfrm>
            <a:custGeom>
              <a:avLst/>
              <a:gdLst/>
              <a:ahLst/>
              <a:cxnLst/>
              <a:rect l="l" t="t" r="r" b="b"/>
              <a:pathLst>
                <a:path w="7637653" h="710438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7592314" y="0"/>
                  </a:lnTo>
                  <a:cubicBezTo>
                    <a:pt x="7617333" y="0"/>
                    <a:pt x="7637653" y="20320"/>
                    <a:pt x="7637653" y="45339"/>
                  </a:cubicBezTo>
                  <a:lnTo>
                    <a:pt x="7637653" y="665099"/>
                  </a:lnTo>
                  <a:cubicBezTo>
                    <a:pt x="7637653" y="690118"/>
                    <a:pt x="7617333" y="710438"/>
                    <a:pt x="7592314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F3E3D8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162345" y="6607073"/>
            <a:ext cx="5388026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MACHINE LEARNING · RECOMMENDER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744418"/>
            <a:ext cx="7088238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168853"/>
            <a:ext cx="16303523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Users face </a:t>
            </a:r>
            <a:r>
              <a:rPr lang="en-US" sz="2187" b="1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information overload</a:t>
            </a:r>
            <a:r>
              <a:rPr lang="en-US" sz="218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— browsing hundreds of titles without finding content that matches their taste. The goal: build a personalized movie recommendation engine that surfaces the right content for each user.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4480770"/>
            <a:ext cx="5245446" cy="2087318"/>
            <a:chOff x="0" y="0"/>
            <a:chExt cx="6993928" cy="27830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94017" cy="2783078"/>
            </a:xfrm>
            <a:custGeom>
              <a:avLst/>
              <a:gdLst/>
              <a:ahLst/>
              <a:cxnLst/>
              <a:rect l="l" t="t" r="r" b="b"/>
              <a:pathLst>
                <a:path w="6994017" h="278307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2726309"/>
                  </a:lnTo>
                  <a:cubicBezTo>
                    <a:pt x="6994017" y="2757678"/>
                    <a:pt x="6968617" y="2783078"/>
                    <a:pt x="6937248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275759" y="4726191"/>
            <a:ext cx="3640636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Exploratory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5759" y="5291585"/>
            <a:ext cx="4678413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Understand rating patterns and data distributions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521206" y="4480770"/>
            <a:ext cx="5245446" cy="2087318"/>
            <a:chOff x="0" y="0"/>
            <a:chExt cx="6993928" cy="278309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94017" cy="2783078"/>
            </a:xfrm>
            <a:custGeom>
              <a:avLst/>
              <a:gdLst/>
              <a:ahLst/>
              <a:cxnLst/>
              <a:rect l="l" t="t" r="r" b="b"/>
              <a:pathLst>
                <a:path w="6994017" h="278307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2726309"/>
                  </a:lnTo>
                  <a:cubicBezTo>
                    <a:pt x="6994017" y="2757678"/>
                    <a:pt x="6968617" y="2783078"/>
                    <a:pt x="6937248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6804717" y="4726191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Cosine Similarity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04717" y="5291585"/>
            <a:ext cx="4678413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Measure user-to-user behavioral similarity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050163" y="4480770"/>
            <a:ext cx="5245446" cy="2087318"/>
            <a:chOff x="0" y="0"/>
            <a:chExt cx="6993928" cy="278309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994017" cy="2783078"/>
            </a:xfrm>
            <a:custGeom>
              <a:avLst/>
              <a:gdLst/>
              <a:ahLst/>
              <a:cxnLst/>
              <a:rect l="l" t="t" r="r" b="b"/>
              <a:pathLst>
                <a:path w="6994017" h="278307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2726309"/>
                  </a:lnTo>
                  <a:cubicBezTo>
                    <a:pt x="6994017" y="2757678"/>
                    <a:pt x="6968617" y="2783078"/>
                    <a:pt x="6937248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2333684" y="4726191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SVD Model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33684" y="5291585"/>
            <a:ext cx="4678413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Factorize the user-item matrix for predictions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92238" y="6851599"/>
            <a:ext cx="8009934" cy="1633690"/>
            <a:chOff x="0" y="0"/>
            <a:chExt cx="10679913" cy="217825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679811" cy="2178177"/>
            </a:xfrm>
            <a:custGeom>
              <a:avLst/>
              <a:gdLst/>
              <a:ahLst/>
              <a:cxnLst/>
              <a:rect l="l" t="t" r="r" b="b"/>
              <a:pathLst>
                <a:path w="10679811" h="2178177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169" y="0"/>
                  </a:lnTo>
                  <a:cubicBezTo>
                    <a:pt x="10654537" y="0"/>
                    <a:pt x="10679811" y="25400"/>
                    <a:pt x="10679811" y="56642"/>
                  </a:cubicBezTo>
                  <a:lnTo>
                    <a:pt x="10679811" y="2121535"/>
                  </a:lnTo>
                  <a:cubicBezTo>
                    <a:pt x="10679811" y="2152904"/>
                    <a:pt x="10654411" y="2178177"/>
                    <a:pt x="10623169" y="2178177"/>
                  </a:cubicBezTo>
                  <a:lnTo>
                    <a:pt x="56642" y="2178177"/>
                  </a:lnTo>
                  <a:cubicBezTo>
                    <a:pt x="25273" y="2178177"/>
                    <a:pt x="0" y="2152777"/>
                    <a:pt x="0" y="2121535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275759" y="7097020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RMSE Evaluation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75759" y="7662415"/>
            <a:ext cx="7442892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Quantify model accuracy on held-out ratings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285684" y="6851599"/>
            <a:ext cx="8009934" cy="1633690"/>
            <a:chOff x="0" y="0"/>
            <a:chExt cx="10679913" cy="217825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679811" cy="2178177"/>
            </a:xfrm>
            <a:custGeom>
              <a:avLst/>
              <a:gdLst/>
              <a:ahLst/>
              <a:cxnLst/>
              <a:rect l="l" t="t" r="r" b="b"/>
              <a:pathLst>
                <a:path w="10679811" h="2178177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169" y="0"/>
                  </a:lnTo>
                  <a:cubicBezTo>
                    <a:pt x="10654537" y="0"/>
                    <a:pt x="10679811" y="25400"/>
                    <a:pt x="10679811" y="56642"/>
                  </a:cubicBezTo>
                  <a:lnTo>
                    <a:pt x="10679811" y="2121535"/>
                  </a:lnTo>
                  <a:cubicBezTo>
                    <a:pt x="10679811" y="2152904"/>
                    <a:pt x="10654411" y="2178177"/>
                    <a:pt x="10623169" y="2178177"/>
                  </a:cubicBezTo>
                  <a:lnTo>
                    <a:pt x="56642" y="2178177"/>
                  </a:lnTo>
                  <a:cubicBezTo>
                    <a:pt x="25273" y="2178177"/>
                    <a:pt x="0" y="2152777"/>
                    <a:pt x="0" y="2121535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9569206" y="7097020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Top-5 Recs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569206" y="7662415"/>
            <a:ext cx="7442892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Generate ranked recommendations per user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18702"/>
            <a:ext cx="8304162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Dataset &amp; Methodology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803627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MovieLens Dataset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3482426"/>
            <a:ext cx="5256457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 widely used benchmark in recommender systems research. Each record captures a </a:t>
            </a:r>
            <a:r>
              <a:rPr lang="en-US" sz="2187" b="1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User ID</a:t>
            </a:r>
            <a:r>
              <a:rPr lang="en-US" sz="218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, </a:t>
            </a:r>
            <a:r>
              <a:rPr lang="en-US" sz="2187" b="1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Movie ID</a:t>
            </a:r>
            <a:r>
              <a:rPr lang="en-US" sz="218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, and a </a:t>
            </a:r>
            <a:r>
              <a:rPr lang="en-US" sz="2187" b="1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numeric rating</a:t>
            </a:r>
            <a:r>
              <a:rPr lang="en-US" sz="218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, forming the raw signal for all downstream modeling.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92238" y="6155236"/>
            <a:ext cx="5256457" cy="2565644"/>
            <a:chOff x="0" y="0"/>
            <a:chExt cx="7008609" cy="34208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008622" cy="3420872"/>
            </a:xfrm>
            <a:custGeom>
              <a:avLst/>
              <a:gdLst/>
              <a:ahLst/>
              <a:cxnLst/>
              <a:rect l="l" t="t" r="r" b="b"/>
              <a:pathLst>
                <a:path w="7008622" h="342087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51853" y="0"/>
                  </a:lnTo>
                  <a:cubicBezTo>
                    <a:pt x="6983222" y="0"/>
                    <a:pt x="7008622" y="25400"/>
                    <a:pt x="7008622" y="56769"/>
                  </a:cubicBezTo>
                  <a:lnTo>
                    <a:pt x="7008622" y="3364103"/>
                  </a:lnTo>
                  <a:cubicBezTo>
                    <a:pt x="7008622" y="3395472"/>
                    <a:pt x="6983222" y="3420872"/>
                    <a:pt x="6951853" y="3420872"/>
                  </a:cubicBezTo>
                  <a:lnTo>
                    <a:pt x="56769" y="3420872"/>
                  </a:lnTo>
                  <a:cubicBezTo>
                    <a:pt x="25400" y="3420872"/>
                    <a:pt x="0" y="3395472"/>
                    <a:pt x="0" y="3364103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275759" y="6585347"/>
            <a:ext cx="354359" cy="283521"/>
            <a:chOff x="0" y="0"/>
            <a:chExt cx="472478" cy="378028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472440" cy="378079"/>
            </a:xfrm>
            <a:custGeom>
              <a:avLst/>
              <a:gdLst/>
              <a:ahLst/>
              <a:cxnLst/>
              <a:rect l="l" t="t" r="r" b="b"/>
              <a:pathLst>
                <a:path w="472440" h="378079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71" r="-8" b="-655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913630" y="6423870"/>
            <a:ext cx="4051544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Sparse user-item matrices are the norm — most users rate only a small fraction of available movies.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49973" y="2432447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Pipeline Overview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949973" y="3232394"/>
            <a:ext cx="10355161" cy="5859809"/>
            <a:chOff x="0" y="0"/>
            <a:chExt cx="13806881" cy="7813078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13806932" cy="7813040"/>
            </a:xfrm>
            <a:custGeom>
              <a:avLst/>
              <a:gdLst/>
              <a:ahLst/>
              <a:cxnLst/>
              <a:rect l="l" t="t" r="r" b="b"/>
              <a:pathLst>
                <a:path w="13806932" h="7813040">
                  <a:moveTo>
                    <a:pt x="0" y="0"/>
                  </a:moveTo>
                  <a:lnTo>
                    <a:pt x="13806932" y="0"/>
                  </a:lnTo>
                  <a:lnTo>
                    <a:pt x="13806932" y="7813040"/>
                  </a:lnTo>
                  <a:lnTo>
                    <a:pt x="0" y="781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r="-9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3427916" y="3929415"/>
            <a:ext cx="2367724" cy="334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1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Data Preprocessing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427916" y="4338142"/>
            <a:ext cx="3630501" cy="483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4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Clean ratings, handle missing values, and normalize.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12505487" y="3966858"/>
            <a:ext cx="315697" cy="315697"/>
          </a:xfrm>
          <a:custGeom>
            <a:avLst/>
            <a:gdLst/>
            <a:ahLst/>
            <a:cxnLst/>
            <a:rect l="l" t="t" r="r" b="b"/>
            <a:pathLst>
              <a:path w="315697" h="315697">
                <a:moveTo>
                  <a:pt x="0" y="0"/>
                </a:moveTo>
                <a:lnTo>
                  <a:pt x="315696" y="0"/>
                </a:lnTo>
                <a:lnTo>
                  <a:pt x="315696" y="315696"/>
                </a:lnTo>
                <a:lnTo>
                  <a:pt x="0" y="3156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411" r="-4411"/>
            </a:stretch>
          </a:blipFill>
        </p:spPr>
      </p:sp>
      <p:sp>
        <p:nvSpPr>
          <p:cNvPr id="20" name="Freeform 20" descr="preencoded.png"/>
          <p:cNvSpPr/>
          <p:nvPr/>
        </p:nvSpPr>
        <p:spPr>
          <a:xfrm>
            <a:off x="11463690" y="5124412"/>
            <a:ext cx="315697" cy="315697"/>
          </a:xfrm>
          <a:custGeom>
            <a:avLst/>
            <a:gdLst/>
            <a:ahLst/>
            <a:cxnLst/>
            <a:rect l="l" t="t" r="r" b="b"/>
            <a:pathLst>
              <a:path w="315697" h="315697">
                <a:moveTo>
                  <a:pt x="0" y="0"/>
                </a:moveTo>
                <a:lnTo>
                  <a:pt x="315697" y="0"/>
                </a:lnTo>
                <a:lnTo>
                  <a:pt x="315697" y="315696"/>
                </a:lnTo>
                <a:lnTo>
                  <a:pt x="0" y="3156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8459314" y="5085493"/>
            <a:ext cx="2367724" cy="334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12"/>
              </a:lnSpc>
            </a:pPr>
            <a:r>
              <a:rPr lang="en-US" sz="181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User-Item Matrix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96538" y="5494211"/>
            <a:ext cx="3630501" cy="483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12"/>
              </a:lnSpc>
            </a:pPr>
            <a:r>
              <a:rPr lang="en-US" sz="14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Construct sparse matrix of users vs. movies.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427916" y="6244523"/>
            <a:ext cx="2532640" cy="33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1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Similarity Calculation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427916" y="6653251"/>
            <a:ext cx="3630501" cy="483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4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Compute user or item similarities (cosine).</a:t>
            </a:r>
          </a:p>
        </p:txBody>
      </p:sp>
      <p:sp>
        <p:nvSpPr>
          <p:cNvPr id="25" name="Freeform 25" descr="preencoded.png"/>
          <p:cNvSpPr/>
          <p:nvPr/>
        </p:nvSpPr>
        <p:spPr>
          <a:xfrm>
            <a:off x="12505487" y="6281966"/>
            <a:ext cx="315697" cy="315697"/>
          </a:xfrm>
          <a:custGeom>
            <a:avLst/>
            <a:gdLst/>
            <a:ahLst/>
            <a:cxnLst/>
            <a:rect l="l" t="t" r="r" b="b"/>
            <a:pathLst>
              <a:path w="315697" h="315697">
                <a:moveTo>
                  <a:pt x="0" y="0"/>
                </a:moveTo>
                <a:lnTo>
                  <a:pt x="315696" y="0"/>
                </a:lnTo>
                <a:lnTo>
                  <a:pt x="315696" y="315697"/>
                </a:lnTo>
                <a:lnTo>
                  <a:pt x="0" y="315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8460962" y="7402068"/>
            <a:ext cx="2367724" cy="334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12"/>
              </a:lnSpc>
            </a:pPr>
            <a:r>
              <a:rPr lang="en-US" sz="181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SVD Model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98176" y="7810795"/>
            <a:ext cx="3630501" cy="483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12"/>
              </a:lnSpc>
            </a:pPr>
            <a:r>
              <a:rPr lang="en-US" sz="14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Factorize matrix and predict missing ratings.</a:t>
            </a:r>
          </a:p>
        </p:txBody>
      </p:sp>
      <p:sp>
        <p:nvSpPr>
          <p:cNvPr id="28" name="Freeform 28" descr="preencoded.png"/>
          <p:cNvSpPr/>
          <p:nvPr/>
        </p:nvSpPr>
        <p:spPr>
          <a:xfrm>
            <a:off x="11463690" y="7439511"/>
            <a:ext cx="315697" cy="315697"/>
          </a:xfrm>
          <a:custGeom>
            <a:avLst/>
            <a:gdLst/>
            <a:ahLst/>
            <a:cxnLst/>
            <a:rect l="l" t="t" r="r" b="b"/>
            <a:pathLst>
              <a:path w="315697" h="315697">
                <a:moveTo>
                  <a:pt x="0" y="0"/>
                </a:moveTo>
                <a:lnTo>
                  <a:pt x="315697" y="0"/>
                </a:lnTo>
                <a:lnTo>
                  <a:pt x="315697" y="315696"/>
                </a:lnTo>
                <a:lnTo>
                  <a:pt x="0" y="3156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8825" b="-8822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2761659"/>
            <a:ext cx="9128369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Exploratory Data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4044258"/>
            <a:ext cx="16303523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The rating distribution reveals a classic </a:t>
            </a:r>
            <a:r>
              <a:rPr lang="en-US" sz="2187" b="1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long-tail pattern</a:t>
            </a:r>
            <a:r>
              <a:rPr lang="en-US" sz="218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— a small number of popular movies accumulate the vast majority of ratings, while most titles receive very few. This sparsity is the central challenge collaborative filtering must overcome.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5809802"/>
            <a:ext cx="16303523" cy="1658388"/>
            <a:chOff x="0" y="0"/>
            <a:chExt cx="21738031" cy="221118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38081" cy="2211197"/>
            </a:xfrm>
            <a:custGeom>
              <a:avLst/>
              <a:gdLst/>
              <a:ahLst/>
              <a:cxnLst/>
              <a:rect l="l" t="t" r="r" b="b"/>
              <a:pathLst>
                <a:path w="21738081" h="221119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21681312" y="0"/>
                  </a:lnTo>
                  <a:cubicBezTo>
                    <a:pt x="21712681" y="0"/>
                    <a:pt x="21738081" y="25400"/>
                    <a:pt x="21738081" y="56769"/>
                  </a:cubicBezTo>
                  <a:lnTo>
                    <a:pt x="21738081" y="2154428"/>
                  </a:lnTo>
                  <a:cubicBezTo>
                    <a:pt x="21738081" y="2185797"/>
                    <a:pt x="21712681" y="2211197"/>
                    <a:pt x="21681312" y="2211197"/>
                  </a:cubicBezTo>
                  <a:lnTo>
                    <a:pt x="56769" y="2211197"/>
                  </a:lnTo>
                  <a:cubicBezTo>
                    <a:pt x="25400" y="2211197"/>
                    <a:pt x="0" y="2185797"/>
                    <a:pt x="0" y="2154428"/>
                  </a:cubicBezTo>
                  <a:close/>
                </a:path>
              </a:pathLst>
            </a:custGeom>
            <a:solidFill>
              <a:srgbClr val="EDD5C4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75759" y="6239913"/>
            <a:ext cx="354359" cy="283521"/>
            <a:chOff x="0" y="0"/>
            <a:chExt cx="472478" cy="378028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472440" cy="378079"/>
            </a:xfrm>
            <a:custGeom>
              <a:avLst/>
              <a:gdLst/>
              <a:ahLst/>
              <a:cxnLst/>
              <a:rect l="l" t="t" r="r" b="b"/>
              <a:pathLst>
                <a:path w="472440" h="378079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71" r="-8" b="-655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913630" y="6078436"/>
            <a:ext cx="15098611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The long tail means most collaborative filtering signal is concentrated in a small subset of items — handling cold-start for rare movies is critical.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980305"/>
            <a:ext cx="7088238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Cosine Similarity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262903"/>
            <a:ext cx="16303523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Cosine similarity quantifies how alike two users are by measuring the </a:t>
            </a:r>
            <a:r>
              <a:rPr lang="en-US" sz="2187" b="1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angle between their rating vectors</a:t>
            </a:r>
            <a:r>
              <a:rPr lang="en-US" sz="218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in item space. A score of 1 means identical preferences; 0 means no overlap.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88041" y="4574829"/>
            <a:ext cx="8214274" cy="3674564"/>
            <a:chOff x="0" y="0"/>
            <a:chExt cx="10952366" cy="48994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952353" cy="4899406"/>
            </a:xfrm>
            <a:custGeom>
              <a:avLst/>
              <a:gdLst/>
              <a:ahLst/>
              <a:cxnLst/>
              <a:rect l="l" t="t" r="r" b="b"/>
              <a:pathLst>
                <a:path w="10952353" h="4899406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895711" y="0"/>
                  </a:lnTo>
                  <a:cubicBezTo>
                    <a:pt x="10927080" y="0"/>
                    <a:pt x="10952353" y="25400"/>
                    <a:pt x="10952353" y="56642"/>
                  </a:cubicBezTo>
                  <a:lnTo>
                    <a:pt x="10952353" y="4842764"/>
                  </a:lnTo>
                  <a:cubicBezTo>
                    <a:pt x="10952353" y="4874133"/>
                    <a:pt x="10926953" y="4899406"/>
                    <a:pt x="10895711" y="4899406"/>
                  </a:cubicBezTo>
                  <a:lnTo>
                    <a:pt x="56642" y="4899406"/>
                  </a:lnTo>
                  <a:cubicBezTo>
                    <a:pt x="25273" y="4899406"/>
                    <a:pt x="0" y="4874006"/>
                    <a:pt x="0" y="4842764"/>
                  </a:cubicBezTo>
                  <a:close/>
                </a:path>
              </a:pathLst>
            </a:custGeom>
            <a:solidFill>
              <a:srgbClr val="532418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071562" y="4820241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Formula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71562" y="5660079"/>
            <a:ext cx="7647232" cy="898027"/>
            <a:chOff x="0" y="0"/>
            <a:chExt cx="10196309" cy="1197369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0196322" cy="1197356"/>
            </a:xfrm>
            <a:custGeom>
              <a:avLst/>
              <a:gdLst/>
              <a:ahLst/>
              <a:cxnLst/>
              <a:rect l="l" t="t" r="r" b="b"/>
              <a:pathLst>
                <a:path w="10196322" h="1197356">
                  <a:moveTo>
                    <a:pt x="0" y="0"/>
                  </a:moveTo>
                  <a:lnTo>
                    <a:pt x="10196322" y="0"/>
                  </a:lnTo>
                  <a:lnTo>
                    <a:pt x="10196322" y="1197356"/>
                  </a:lnTo>
                  <a:lnTo>
                    <a:pt x="0" y="1197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72" b="-373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071562" y="6831216"/>
            <a:ext cx="7647232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Implemented efficiently using NumPy dot products and L2 norms on the user-item matrix.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9397" y="4820241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Why It Works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99397" y="5499049"/>
            <a:ext cx="7805890" cy="2651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Robust to users who rate on different absolute scales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Efficient to compute on sparse matrices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Interpretable similarity score between 0 and 1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Forms the backbone of user-based CF neighborhood selection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50402"/>
            <a:ext cx="6776590" cy="74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SVD Model &amp; Evaluation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890685"/>
            <a:ext cx="4195610" cy="38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Singular Value Decomposition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3416941"/>
            <a:ext cx="10403529" cy="1017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SVD decomposes the user-item rating matrix into latent factor matrices, capturing hidden preferences and item attributes. Missing ratings are predicted by reconstructing the matrix from learned factors.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087738" y="4638675"/>
            <a:ext cx="6212386" cy="3687070"/>
            <a:chOff x="0" y="0"/>
            <a:chExt cx="8283181" cy="4916094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8283194" cy="4916043"/>
            </a:xfrm>
            <a:custGeom>
              <a:avLst/>
              <a:gdLst/>
              <a:ahLst/>
              <a:cxnLst/>
              <a:rect l="l" t="t" r="r" b="b"/>
              <a:pathLst>
                <a:path w="8283194" h="4916043">
                  <a:moveTo>
                    <a:pt x="0" y="0"/>
                  </a:moveTo>
                  <a:lnTo>
                    <a:pt x="8283194" y="0"/>
                  </a:lnTo>
                  <a:lnTo>
                    <a:pt x="8283194" y="4916043"/>
                  </a:lnTo>
                  <a:lnTo>
                    <a:pt x="0" y="491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" b="-5"/>
              </a:stretch>
            </a:blipFill>
          </p:spPr>
        </p:sp>
      </p:grpSp>
      <p:sp>
        <p:nvSpPr>
          <p:cNvPr id="11" name="Freeform 11" descr="preencoded.png"/>
          <p:cNvSpPr/>
          <p:nvPr/>
        </p:nvSpPr>
        <p:spPr>
          <a:xfrm>
            <a:off x="7882823" y="5539854"/>
            <a:ext cx="528857" cy="528857"/>
          </a:xfrm>
          <a:custGeom>
            <a:avLst/>
            <a:gdLst/>
            <a:ahLst/>
            <a:cxnLst/>
            <a:rect l="l" t="t" r="r" b="b"/>
            <a:pathLst>
              <a:path w="528857" h="528857">
                <a:moveTo>
                  <a:pt x="0" y="0"/>
                </a:moveTo>
                <a:lnTo>
                  <a:pt x="528857" y="0"/>
                </a:lnTo>
                <a:lnTo>
                  <a:pt x="528857" y="528857"/>
                </a:lnTo>
                <a:lnTo>
                  <a:pt x="0" y="5288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499" r="-12501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411650" y="7134930"/>
            <a:ext cx="1544260" cy="930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181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Predict Missing Ratings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5946724" y="5540845"/>
            <a:ext cx="528857" cy="528857"/>
          </a:xfrm>
          <a:custGeom>
            <a:avLst/>
            <a:gdLst/>
            <a:ahLst/>
            <a:cxnLst/>
            <a:rect l="l" t="t" r="r" b="b"/>
            <a:pathLst>
              <a:path w="528857" h="528857">
                <a:moveTo>
                  <a:pt x="0" y="0"/>
                </a:moveTo>
                <a:lnTo>
                  <a:pt x="528857" y="0"/>
                </a:lnTo>
                <a:lnTo>
                  <a:pt x="528857" y="528856"/>
                </a:lnTo>
                <a:lnTo>
                  <a:pt x="0" y="5288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9821" b="-9821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465464" y="7283663"/>
            <a:ext cx="1544260" cy="63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181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Learn Latent Factors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4000538" y="5540845"/>
            <a:ext cx="528857" cy="528857"/>
          </a:xfrm>
          <a:custGeom>
            <a:avLst/>
            <a:gdLst/>
            <a:ahLst/>
            <a:cxnLst/>
            <a:rect l="l" t="t" r="r" b="b"/>
            <a:pathLst>
              <a:path w="528857" h="528857">
                <a:moveTo>
                  <a:pt x="0" y="0"/>
                </a:moveTo>
                <a:lnTo>
                  <a:pt x="528857" y="0"/>
                </a:lnTo>
                <a:lnTo>
                  <a:pt x="528857" y="528856"/>
                </a:lnTo>
                <a:lnTo>
                  <a:pt x="0" y="5288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487550" y="7283663"/>
            <a:ext cx="1544260" cy="63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181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Decompose Matrix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958638" y="2022129"/>
            <a:ext cx="2835326" cy="38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Model Performance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944350" y="2594820"/>
            <a:ext cx="5375072" cy="2054723"/>
            <a:chOff x="0" y="0"/>
            <a:chExt cx="7166762" cy="2739631"/>
          </a:xfrm>
        </p:grpSpPr>
        <p:sp>
          <p:nvSpPr>
            <p:cNvPr id="19" name="Freeform 19"/>
            <p:cNvSpPr/>
            <p:nvPr/>
          </p:nvSpPr>
          <p:spPr>
            <a:xfrm>
              <a:off x="19050" y="19050"/>
              <a:ext cx="7128764" cy="2701544"/>
            </a:xfrm>
            <a:custGeom>
              <a:avLst/>
              <a:gdLst/>
              <a:ahLst/>
              <a:cxnLst/>
              <a:rect l="l" t="t" r="r" b="b"/>
              <a:pathLst>
                <a:path w="7128764" h="2701544">
                  <a:moveTo>
                    <a:pt x="0" y="182880"/>
                  </a:moveTo>
                  <a:cubicBezTo>
                    <a:pt x="0" y="81915"/>
                    <a:pt x="82550" y="0"/>
                    <a:pt x="184531" y="0"/>
                  </a:cubicBezTo>
                  <a:lnTo>
                    <a:pt x="6944233" y="0"/>
                  </a:lnTo>
                  <a:cubicBezTo>
                    <a:pt x="7046087" y="0"/>
                    <a:pt x="7128764" y="81915"/>
                    <a:pt x="7128764" y="182880"/>
                  </a:cubicBezTo>
                  <a:lnTo>
                    <a:pt x="7128764" y="2518664"/>
                  </a:lnTo>
                  <a:cubicBezTo>
                    <a:pt x="7128764" y="2619629"/>
                    <a:pt x="7046214" y="2701544"/>
                    <a:pt x="6944233" y="2701544"/>
                  </a:cubicBezTo>
                  <a:lnTo>
                    <a:pt x="184531" y="2701544"/>
                  </a:lnTo>
                  <a:cubicBezTo>
                    <a:pt x="82677" y="2701544"/>
                    <a:pt x="0" y="2619629"/>
                    <a:pt x="0" y="251866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7166864" cy="2739644"/>
            </a:xfrm>
            <a:custGeom>
              <a:avLst/>
              <a:gdLst/>
              <a:ahLst/>
              <a:cxnLst/>
              <a:rect l="l" t="t" r="r" b="b"/>
              <a:pathLst>
                <a:path w="7166864" h="2739644">
                  <a:moveTo>
                    <a:pt x="0" y="201930"/>
                  </a:moveTo>
                  <a:cubicBezTo>
                    <a:pt x="0" y="90297"/>
                    <a:pt x="91313" y="0"/>
                    <a:pt x="203581" y="0"/>
                  </a:cubicBezTo>
                  <a:lnTo>
                    <a:pt x="6963283" y="0"/>
                  </a:lnTo>
                  <a:lnTo>
                    <a:pt x="6963283" y="19050"/>
                  </a:lnTo>
                  <a:lnTo>
                    <a:pt x="6963283" y="0"/>
                  </a:lnTo>
                  <a:cubicBezTo>
                    <a:pt x="7075551" y="0"/>
                    <a:pt x="7166864" y="90297"/>
                    <a:pt x="7166864" y="201930"/>
                  </a:cubicBezTo>
                  <a:lnTo>
                    <a:pt x="7147814" y="201930"/>
                  </a:lnTo>
                  <a:lnTo>
                    <a:pt x="7166864" y="201930"/>
                  </a:lnTo>
                  <a:lnTo>
                    <a:pt x="7166864" y="2537714"/>
                  </a:lnTo>
                  <a:lnTo>
                    <a:pt x="7147814" y="2537714"/>
                  </a:lnTo>
                  <a:lnTo>
                    <a:pt x="7166864" y="2537714"/>
                  </a:lnTo>
                  <a:cubicBezTo>
                    <a:pt x="7166864" y="2649347"/>
                    <a:pt x="7075551" y="2739644"/>
                    <a:pt x="6963283" y="2739644"/>
                  </a:cubicBezTo>
                  <a:lnTo>
                    <a:pt x="6963283" y="2720594"/>
                  </a:lnTo>
                  <a:lnTo>
                    <a:pt x="6963283" y="2739644"/>
                  </a:lnTo>
                  <a:lnTo>
                    <a:pt x="203581" y="2739644"/>
                  </a:lnTo>
                  <a:lnTo>
                    <a:pt x="203581" y="2720594"/>
                  </a:lnTo>
                  <a:lnTo>
                    <a:pt x="203581" y="2739644"/>
                  </a:lnTo>
                  <a:cubicBezTo>
                    <a:pt x="91313" y="2739644"/>
                    <a:pt x="0" y="2649347"/>
                    <a:pt x="0" y="2537714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37714"/>
                  </a:lnTo>
                  <a:lnTo>
                    <a:pt x="19050" y="2537714"/>
                  </a:lnTo>
                  <a:lnTo>
                    <a:pt x="38100" y="2537714"/>
                  </a:lnTo>
                  <a:cubicBezTo>
                    <a:pt x="38100" y="2628011"/>
                    <a:pt x="112014" y="2701544"/>
                    <a:pt x="203581" y="2701544"/>
                  </a:cubicBezTo>
                  <a:lnTo>
                    <a:pt x="6963283" y="2701544"/>
                  </a:lnTo>
                  <a:cubicBezTo>
                    <a:pt x="7054850" y="2701544"/>
                    <a:pt x="7128764" y="2628011"/>
                    <a:pt x="7128764" y="2537714"/>
                  </a:cubicBezTo>
                  <a:lnTo>
                    <a:pt x="7128764" y="201930"/>
                  </a:lnTo>
                  <a:cubicBezTo>
                    <a:pt x="7128764" y="111633"/>
                    <a:pt x="7054850" y="38100"/>
                    <a:pt x="6963283" y="38100"/>
                  </a:cubicBezTo>
                  <a:lnTo>
                    <a:pt x="203581" y="38100"/>
                  </a:lnTo>
                  <a:lnTo>
                    <a:pt x="203581" y="19050"/>
                  </a:lnTo>
                  <a:lnTo>
                    <a:pt x="203581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1930062" y="2609107"/>
            <a:ext cx="114300" cy="2026148"/>
            <a:chOff x="0" y="0"/>
            <a:chExt cx="152400" cy="270153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2400" cy="2701544"/>
            </a:xfrm>
            <a:custGeom>
              <a:avLst/>
              <a:gdLst/>
              <a:ahLst/>
              <a:cxnLst/>
              <a:rect l="l" t="t" r="r" b="b"/>
              <a:pathLst>
                <a:path w="152400" h="2701544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107061" y="0"/>
                  </a:lnTo>
                  <a:cubicBezTo>
                    <a:pt x="132080" y="0"/>
                    <a:pt x="152400" y="20320"/>
                    <a:pt x="152400" y="45339"/>
                  </a:cubicBezTo>
                  <a:lnTo>
                    <a:pt x="152400" y="2656205"/>
                  </a:lnTo>
                  <a:cubicBezTo>
                    <a:pt x="152400" y="2681224"/>
                    <a:pt x="132080" y="2701544"/>
                    <a:pt x="107061" y="2701544"/>
                  </a:cubicBezTo>
                  <a:lnTo>
                    <a:pt x="45339" y="2701544"/>
                  </a:lnTo>
                  <a:cubicBezTo>
                    <a:pt x="20320" y="2701544"/>
                    <a:pt x="0" y="2681224"/>
                    <a:pt x="0" y="2656205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2299747" y="2835916"/>
            <a:ext cx="2835326" cy="38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RMSE = 0.352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299747" y="3362173"/>
            <a:ext cx="4750003" cy="1017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Achieved on held-out test ratings — significantly below the 1.0 threshold considered strong for 5-star scales.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1944350" y="4802391"/>
            <a:ext cx="5375072" cy="2381250"/>
            <a:chOff x="0" y="0"/>
            <a:chExt cx="7166762" cy="3175000"/>
          </a:xfrm>
        </p:grpSpPr>
        <p:sp>
          <p:nvSpPr>
            <p:cNvPr id="26" name="Freeform 26"/>
            <p:cNvSpPr/>
            <p:nvPr/>
          </p:nvSpPr>
          <p:spPr>
            <a:xfrm>
              <a:off x="19050" y="19050"/>
              <a:ext cx="7128637" cy="3136900"/>
            </a:xfrm>
            <a:custGeom>
              <a:avLst/>
              <a:gdLst/>
              <a:ahLst/>
              <a:cxnLst/>
              <a:rect l="l" t="t" r="r" b="b"/>
              <a:pathLst>
                <a:path w="7128637" h="3136900">
                  <a:moveTo>
                    <a:pt x="0" y="182880"/>
                  </a:moveTo>
                  <a:cubicBezTo>
                    <a:pt x="0" y="81915"/>
                    <a:pt x="82423" y="0"/>
                    <a:pt x="184150" y="0"/>
                  </a:cubicBezTo>
                  <a:lnTo>
                    <a:pt x="6944487" y="0"/>
                  </a:lnTo>
                  <a:cubicBezTo>
                    <a:pt x="7046214" y="0"/>
                    <a:pt x="7128637" y="81915"/>
                    <a:pt x="7128637" y="182880"/>
                  </a:cubicBezTo>
                  <a:lnTo>
                    <a:pt x="7128637" y="2954020"/>
                  </a:lnTo>
                  <a:cubicBezTo>
                    <a:pt x="7128637" y="3054985"/>
                    <a:pt x="7046214" y="3136900"/>
                    <a:pt x="6944487" y="3136900"/>
                  </a:cubicBezTo>
                  <a:lnTo>
                    <a:pt x="184150" y="3136900"/>
                  </a:lnTo>
                  <a:cubicBezTo>
                    <a:pt x="82423" y="3136900"/>
                    <a:pt x="0" y="3054985"/>
                    <a:pt x="0" y="29540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7166737" cy="3175000"/>
            </a:xfrm>
            <a:custGeom>
              <a:avLst/>
              <a:gdLst/>
              <a:ahLst/>
              <a:cxnLst/>
              <a:rect l="l" t="t" r="r" b="b"/>
              <a:pathLst>
                <a:path w="7166737" h="3175000">
                  <a:moveTo>
                    <a:pt x="0" y="201930"/>
                  </a:moveTo>
                  <a:cubicBezTo>
                    <a:pt x="0" y="90297"/>
                    <a:pt x="91059" y="0"/>
                    <a:pt x="203200" y="0"/>
                  </a:cubicBezTo>
                  <a:lnTo>
                    <a:pt x="6963537" y="0"/>
                  </a:lnTo>
                  <a:lnTo>
                    <a:pt x="6963537" y="19050"/>
                  </a:lnTo>
                  <a:lnTo>
                    <a:pt x="6963537" y="0"/>
                  </a:lnTo>
                  <a:cubicBezTo>
                    <a:pt x="7075678" y="0"/>
                    <a:pt x="7166737" y="90297"/>
                    <a:pt x="7166737" y="201930"/>
                  </a:cubicBezTo>
                  <a:lnTo>
                    <a:pt x="7147687" y="201930"/>
                  </a:lnTo>
                  <a:lnTo>
                    <a:pt x="7166737" y="201930"/>
                  </a:lnTo>
                  <a:lnTo>
                    <a:pt x="7166737" y="2973070"/>
                  </a:lnTo>
                  <a:lnTo>
                    <a:pt x="7147687" y="2973070"/>
                  </a:lnTo>
                  <a:lnTo>
                    <a:pt x="7166737" y="2973070"/>
                  </a:lnTo>
                  <a:cubicBezTo>
                    <a:pt x="7166737" y="3084703"/>
                    <a:pt x="7075678" y="3175000"/>
                    <a:pt x="6963537" y="3175000"/>
                  </a:cubicBezTo>
                  <a:lnTo>
                    <a:pt x="6963537" y="3155950"/>
                  </a:lnTo>
                  <a:lnTo>
                    <a:pt x="6963537" y="3175000"/>
                  </a:lnTo>
                  <a:lnTo>
                    <a:pt x="203200" y="3175000"/>
                  </a:lnTo>
                  <a:lnTo>
                    <a:pt x="203200" y="3155950"/>
                  </a:lnTo>
                  <a:lnTo>
                    <a:pt x="203200" y="3175000"/>
                  </a:lnTo>
                  <a:cubicBezTo>
                    <a:pt x="91059" y="3175000"/>
                    <a:pt x="0" y="3084703"/>
                    <a:pt x="0" y="2973070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973070"/>
                  </a:lnTo>
                  <a:lnTo>
                    <a:pt x="19050" y="2973070"/>
                  </a:lnTo>
                  <a:lnTo>
                    <a:pt x="38100" y="2973070"/>
                  </a:lnTo>
                  <a:cubicBezTo>
                    <a:pt x="38100" y="3063367"/>
                    <a:pt x="111887" y="3136900"/>
                    <a:pt x="203200" y="3136900"/>
                  </a:cubicBezTo>
                  <a:lnTo>
                    <a:pt x="6963537" y="3136900"/>
                  </a:lnTo>
                  <a:cubicBezTo>
                    <a:pt x="7054850" y="3136900"/>
                    <a:pt x="7128637" y="3063367"/>
                    <a:pt x="7128637" y="2973070"/>
                  </a:cubicBezTo>
                  <a:lnTo>
                    <a:pt x="7128637" y="201930"/>
                  </a:lnTo>
                  <a:cubicBezTo>
                    <a:pt x="7128637" y="111506"/>
                    <a:pt x="7054850" y="38100"/>
                    <a:pt x="6963537" y="38100"/>
                  </a:cubicBezTo>
                  <a:lnTo>
                    <a:pt x="203200" y="38100"/>
                  </a:lnTo>
                  <a:lnTo>
                    <a:pt x="203200" y="19050"/>
                  </a:lnTo>
                  <a:lnTo>
                    <a:pt x="203200" y="38100"/>
                  </a:lnTo>
                  <a:cubicBezTo>
                    <a:pt x="111887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1930062" y="4816678"/>
            <a:ext cx="114300" cy="2352675"/>
            <a:chOff x="0" y="0"/>
            <a:chExt cx="152400" cy="31369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52400" cy="3136900"/>
            </a:xfrm>
            <a:custGeom>
              <a:avLst/>
              <a:gdLst/>
              <a:ahLst/>
              <a:cxnLst/>
              <a:rect l="l" t="t" r="r" b="b"/>
              <a:pathLst>
                <a:path w="152400" h="313690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107061" y="0"/>
                  </a:lnTo>
                  <a:cubicBezTo>
                    <a:pt x="132080" y="0"/>
                    <a:pt x="152400" y="20320"/>
                    <a:pt x="152400" y="45339"/>
                  </a:cubicBezTo>
                  <a:lnTo>
                    <a:pt x="152400" y="3091561"/>
                  </a:lnTo>
                  <a:cubicBezTo>
                    <a:pt x="152400" y="3116580"/>
                    <a:pt x="132080" y="3136900"/>
                    <a:pt x="107061" y="3136900"/>
                  </a:cubicBezTo>
                  <a:lnTo>
                    <a:pt x="45339" y="3136900"/>
                  </a:lnTo>
                  <a:cubicBezTo>
                    <a:pt x="20320" y="3136900"/>
                    <a:pt x="0" y="3116580"/>
                    <a:pt x="0" y="3091561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12299747" y="5043487"/>
            <a:ext cx="2835326" cy="38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Why SVD Wins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299747" y="5569744"/>
            <a:ext cx="4750003" cy="1344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Outperforms memory-based CF by generalizing across the full user-item space rather than relying on exact neighbor matches.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1958638" y="7373388"/>
            <a:ext cx="5346497" cy="1820913"/>
            <a:chOff x="0" y="0"/>
            <a:chExt cx="7128662" cy="242788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128637" cy="2427859"/>
            </a:xfrm>
            <a:custGeom>
              <a:avLst/>
              <a:gdLst/>
              <a:ahLst/>
              <a:cxnLst/>
              <a:rect l="l" t="t" r="r" b="b"/>
              <a:pathLst>
                <a:path w="7128637" h="2427859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7083298" y="0"/>
                  </a:lnTo>
                  <a:cubicBezTo>
                    <a:pt x="7108317" y="0"/>
                    <a:pt x="7128637" y="20320"/>
                    <a:pt x="7128637" y="45339"/>
                  </a:cubicBezTo>
                  <a:lnTo>
                    <a:pt x="7128637" y="2382520"/>
                  </a:lnTo>
                  <a:cubicBezTo>
                    <a:pt x="7128637" y="2407539"/>
                    <a:pt x="7108317" y="2427859"/>
                    <a:pt x="7083298" y="2427859"/>
                  </a:cubicBezTo>
                  <a:lnTo>
                    <a:pt x="45339" y="2427859"/>
                  </a:lnTo>
                  <a:cubicBezTo>
                    <a:pt x="20320" y="2427859"/>
                    <a:pt x="0" y="2407539"/>
                    <a:pt x="0" y="2382520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2185447" y="7696495"/>
            <a:ext cx="283521" cy="226809"/>
            <a:chOff x="0" y="0"/>
            <a:chExt cx="378028" cy="302412"/>
          </a:xfrm>
        </p:grpSpPr>
        <p:sp>
          <p:nvSpPr>
            <p:cNvPr id="35" name="Freeform 35" descr="preencoded.png"/>
            <p:cNvSpPr/>
            <p:nvPr/>
          </p:nvSpPr>
          <p:spPr>
            <a:xfrm>
              <a:off x="0" y="0"/>
              <a:ext cx="378079" cy="302387"/>
            </a:xfrm>
            <a:custGeom>
              <a:avLst/>
              <a:gdLst/>
              <a:ahLst/>
              <a:cxnLst/>
              <a:rect l="l" t="t" r="r" b="b"/>
              <a:pathLst>
                <a:path w="378079" h="302387">
                  <a:moveTo>
                    <a:pt x="0" y="0"/>
                  </a:moveTo>
                  <a:lnTo>
                    <a:pt x="378079" y="0"/>
                  </a:lnTo>
                  <a:lnTo>
                    <a:pt x="378079" y="302387"/>
                  </a:lnTo>
                  <a:lnTo>
                    <a:pt x="0" y="30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3" b="-8"/>
              </a:stretch>
            </a:blipFill>
          </p:spPr>
        </p:sp>
      </p:grpSp>
      <p:sp>
        <p:nvSpPr>
          <p:cNvPr id="36" name="TextBox 36"/>
          <p:cNvSpPr txBox="1"/>
          <p:nvPr/>
        </p:nvSpPr>
        <p:spPr>
          <a:xfrm>
            <a:off x="12695787" y="7573413"/>
            <a:ext cx="4382538" cy="1344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Lower RMSE = higher prediction accuracy. 0.352 indicates the model's predicted ratings deviate by less than 0.4 stars on average.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3080747"/>
            <a:ext cx="13969603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Model Output: Top-5 Recommendations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4363345"/>
            <a:ext cx="16303523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The SVD model generates a ranked list of predicted ratings for unseen movies. Below is a sample output for </a:t>
            </a:r>
            <a:r>
              <a:rPr lang="en-US" sz="2187" b="1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User 1</a:t>
            </a:r>
            <a:r>
              <a:rPr lang="en-US" sz="218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, alongside the RMSE confirmation.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019800" y="5167479"/>
            <a:ext cx="5105400" cy="867893"/>
            <a:chOff x="0" y="0"/>
            <a:chExt cx="4673600" cy="3302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4673600" cy="330200"/>
            </a:xfrm>
            <a:custGeom>
              <a:avLst/>
              <a:gdLst/>
              <a:ahLst/>
              <a:cxnLst/>
              <a:rect l="l" t="t" r="r" b="b"/>
              <a:pathLst>
                <a:path w="4673600" h="330200">
                  <a:moveTo>
                    <a:pt x="0" y="0"/>
                  </a:moveTo>
                  <a:lnTo>
                    <a:pt x="4673600" y="0"/>
                  </a:lnTo>
                  <a:lnTo>
                    <a:pt x="46736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92238" y="6156122"/>
            <a:ext cx="16303523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Predicted ratings range from </a:t>
            </a:r>
            <a:r>
              <a:rPr lang="en-US" sz="2187" b="1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3.99 to 4.97</a:t>
            </a:r>
            <a:r>
              <a:rPr lang="en-US" sz="218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, reflecting high-confidence recommendations for a user whose latent profile aligns strongly with classic action and sci-fi titles.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3082528"/>
            <a:ext cx="6379521" cy="845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Future Scope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92238" y="4271962"/>
            <a:ext cx="510330" cy="510330"/>
          </a:xfrm>
          <a:custGeom>
            <a:avLst/>
            <a:gdLst/>
            <a:ahLst/>
            <a:cxnLst/>
            <a:rect l="l" t="t" r="r" b="b"/>
            <a:pathLst>
              <a:path w="510330" h="510330">
                <a:moveTo>
                  <a:pt x="0" y="0"/>
                </a:moveTo>
                <a:lnTo>
                  <a:pt x="510331" y="0"/>
                </a:lnTo>
                <a:lnTo>
                  <a:pt x="510331" y="510331"/>
                </a:lnTo>
                <a:lnTo>
                  <a:pt x="0" y="5103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628" r="-4630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92238" y="5040659"/>
            <a:ext cx="3189684" cy="427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Web Application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538787"/>
            <a:ext cx="5243217" cy="1618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Deploy the recommendation engine as an interactive web app, enabling real-time personalized suggestions with a user-friendly interface.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6522396" y="4271962"/>
            <a:ext cx="510330" cy="510330"/>
          </a:xfrm>
          <a:custGeom>
            <a:avLst/>
            <a:gdLst/>
            <a:ahLst/>
            <a:cxnLst/>
            <a:rect l="l" t="t" r="r" b="b"/>
            <a:pathLst>
              <a:path w="510330" h="510330">
                <a:moveTo>
                  <a:pt x="0" y="0"/>
                </a:moveTo>
                <a:lnTo>
                  <a:pt x="510331" y="0"/>
                </a:lnTo>
                <a:lnTo>
                  <a:pt x="510331" y="510331"/>
                </a:lnTo>
                <a:lnTo>
                  <a:pt x="0" y="5103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03" r="-3704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522396" y="5040659"/>
            <a:ext cx="3484359" cy="427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Deep Learning Models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22396" y="5538787"/>
            <a:ext cx="5243217" cy="1618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Integrate neural collaborative filtering (NCF) or transformer-based architectures to capture non-linear user-item interactions.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2052544" y="4271962"/>
            <a:ext cx="510330" cy="510330"/>
          </a:xfrm>
          <a:custGeom>
            <a:avLst/>
            <a:gdLst/>
            <a:ahLst/>
            <a:cxnLst/>
            <a:rect l="l" t="t" r="r" b="b"/>
            <a:pathLst>
              <a:path w="510330" h="510330">
                <a:moveTo>
                  <a:pt x="0" y="0"/>
                </a:moveTo>
                <a:lnTo>
                  <a:pt x="510331" y="0"/>
                </a:lnTo>
                <a:lnTo>
                  <a:pt x="510331" y="510331"/>
                </a:lnTo>
                <a:lnTo>
                  <a:pt x="0" y="5103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482" r="-6480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052544" y="5040659"/>
            <a:ext cx="3189684" cy="427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Larger Datasets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52544" y="5538787"/>
            <a:ext cx="5243217" cy="123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Scale to the full MovieLens 25M dataset or domain-specific corpora to improve coverage and reduce cold-start issues.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019023"/>
            <a:ext cx="5670652" cy="74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163070"/>
            <a:ext cx="7875089" cy="1670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This project demonstrates a complete collaborative filtering pipeline — from raw MovieLens data to deployable Top-5 recommendations. SVD-based matrix factorization emerged as the strongest approach, achieving an </a:t>
            </a:r>
            <a:r>
              <a:rPr lang="en-US" sz="1750" b="1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RMSE of 0.352</a:t>
            </a:r>
            <a:r>
              <a:rPr lang="en-US" sz="175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and producing coherent, preference-aligned suggestions.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4037857"/>
            <a:ext cx="7875089" cy="1494387"/>
            <a:chOff x="0" y="0"/>
            <a:chExt cx="10500119" cy="19925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00106" cy="1992503"/>
            </a:xfrm>
            <a:custGeom>
              <a:avLst/>
              <a:gdLst/>
              <a:ahLst/>
              <a:cxnLst/>
              <a:rect l="l" t="t" r="r" b="b"/>
              <a:pathLst>
                <a:path w="10500106" h="1992503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10454767" y="0"/>
                  </a:lnTo>
                  <a:cubicBezTo>
                    <a:pt x="10479786" y="0"/>
                    <a:pt x="10500106" y="20320"/>
                    <a:pt x="10500106" y="45339"/>
                  </a:cubicBezTo>
                  <a:lnTo>
                    <a:pt x="10500106" y="1947164"/>
                  </a:lnTo>
                  <a:cubicBezTo>
                    <a:pt x="10500106" y="1972183"/>
                    <a:pt x="10479786" y="1992503"/>
                    <a:pt x="10454767" y="1992503"/>
                  </a:cubicBezTo>
                  <a:lnTo>
                    <a:pt x="45339" y="1992503"/>
                  </a:lnTo>
                  <a:cubicBezTo>
                    <a:pt x="20320" y="1992503"/>
                    <a:pt x="0" y="1972183"/>
                    <a:pt x="0" y="1947164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19048" y="4360964"/>
            <a:ext cx="283521" cy="226809"/>
            <a:chOff x="0" y="0"/>
            <a:chExt cx="378028" cy="302412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378079" cy="302387"/>
            </a:xfrm>
            <a:custGeom>
              <a:avLst/>
              <a:gdLst/>
              <a:ahLst/>
              <a:cxnLst/>
              <a:rect l="l" t="t" r="r" b="b"/>
              <a:pathLst>
                <a:path w="378079" h="302387">
                  <a:moveTo>
                    <a:pt x="0" y="0"/>
                  </a:moveTo>
                  <a:lnTo>
                    <a:pt x="378079" y="0"/>
                  </a:lnTo>
                  <a:lnTo>
                    <a:pt x="378079" y="302387"/>
                  </a:lnTo>
                  <a:lnTo>
                    <a:pt x="0" y="30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3" b="-8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729378" y="4237882"/>
            <a:ext cx="6911130" cy="1017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The end-to-end system was built and validated successfully, confirming that model-based CF outperforms memory-based approaches on this benchmark.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30198" y="2175272"/>
            <a:ext cx="453628" cy="35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430198" y="2598839"/>
            <a:ext cx="7875089" cy="28575"/>
            <a:chOff x="0" y="0"/>
            <a:chExt cx="10500119" cy="38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500106" cy="38100"/>
            </a:xfrm>
            <a:custGeom>
              <a:avLst/>
              <a:gdLst/>
              <a:ahLst/>
              <a:cxnLst/>
              <a:rect l="l" t="t" r="r" b="b"/>
              <a:pathLst>
                <a:path w="10500106" h="38100">
                  <a:moveTo>
                    <a:pt x="0" y="0"/>
                  </a:moveTo>
                  <a:lnTo>
                    <a:pt x="10500106" y="0"/>
                  </a:lnTo>
                  <a:lnTo>
                    <a:pt x="1050010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9430198" y="2740819"/>
            <a:ext cx="2835326" cy="38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Data Processed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30198" y="3267075"/>
            <a:ext cx="7875089" cy="36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MovieLens cleaned and structured into a user-item matrix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30198" y="3916566"/>
            <a:ext cx="453628" cy="35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430198" y="4340123"/>
            <a:ext cx="7875089" cy="28575"/>
            <a:chOff x="0" y="0"/>
            <a:chExt cx="10500119" cy="381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500106" cy="38100"/>
            </a:xfrm>
            <a:custGeom>
              <a:avLst/>
              <a:gdLst/>
              <a:ahLst/>
              <a:cxnLst/>
              <a:rect l="l" t="t" r="r" b="b"/>
              <a:pathLst>
                <a:path w="10500106" h="38100">
                  <a:moveTo>
                    <a:pt x="0" y="0"/>
                  </a:moveTo>
                  <a:lnTo>
                    <a:pt x="10500106" y="0"/>
                  </a:lnTo>
                  <a:lnTo>
                    <a:pt x="1050010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9430198" y="4482103"/>
            <a:ext cx="2898429" cy="38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Similarity Computed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30198" y="5008359"/>
            <a:ext cx="7875089" cy="36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Cosine similarity identified nearest-neighbor users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30198" y="5657850"/>
            <a:ext cx="453628" cy="35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430198" y="6081417"/>
            <a:ext cx="7875089" cy="28575"/>
            <a:chOff x="0" y="0"/>
            <a:chExt cx="10500119" cy="381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500106" cy="38100"/>
            </a:xfrm>
            <a:custGeom>
              <a:avLst/>
              <a:gdLst/>
              <a:ahLst/>
              <a:cxnLst/>
              <a:rect l="l" t="t" r="r" b="b"/>
              <a:pathLst>
                <a:path w="10500106" h="38100">
                  <a:moveTo>
                    <a:pt x="0" y="0"/>
                  </a:moveTo>
                  <a:lnTo>
                    <a:pt x="10500106" y="0"/>
                  </a:lnTo>
                  <a:lnTo>
                    <a:pt x="1050010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9430198" y="6223397"/>
            <a:ext cx="2835326" cy="38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SVD Trained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30198" y="6749653"/>
            <a:ext cx="7875089" cy="36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Latent factors learned; missing ratings predicted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30198" y="7399134"/>
            <a:ext cx="453628" cy="35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430198" y="7822702"/>
            <a:ext cx="7875089" cy="28575"/>
            <a:chOff x="0" y="0"/>
            <a:chExt cx="10500119" cy="381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500106" cy="38100"/>
            </a:xfrm>
            <a:custGeom>
              <a:avLst/>
              <a:gdLst/>
              <a:ahLst/>
              <a:cxnLst/>
              <a:rect l="l" t="t" r="r" b="b"/>
              <a:pathLst>
                <a:path w="10500106" h="38100">
                  <a:moveTo>
                    <a:pt x="0" y="0"/>
                  </a:moveTo>
                  <a:lnTo>
                    <a:pt x="10500106" y="0"/>
                  </a:lnTo>
                  <a:lnTo>
                    <a:pt x="1050010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9430198" y="7964691"/>
            <a:ext cx="2835326" cy="38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RMSE = 0.352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30198" y="8490947"/>
            <a:ext cx="7875089" cy="36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Model accuracy validated on held-out test 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6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5599805" y="3768481"/>
            <a:ext cx="7088238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5562" dirty="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Thank You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87476" y="5904605"/>
            <a:ext cx="3636616" cy="561384"/>
            <a:chOff x="0" y="0"/>
            <a:chExt cx="4848822" cy="7485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48733" cy="748538"/>
            </a:xfrm>
            <a:custGeom>
              <a:avLst/>
              <a:gdLst/>
              <a:ahLst/>
              <a:cxnLst/>
              <a:rect l="l" t="t" r="r" b="b"/>
              <a:pathLst>
                <a:path w="4848733" h="748538">
                  <a:moveTo>
                    <a:pt x="0" y="51689"/>
                  </a:moveTo>
                  <a:cubicBezTo>
                    <a:pt x="0" y="23114"/>
                    <a:pt x="23495" y="0"/>
                    <a:pt x="52324" y="0"/>
                  </a:cubicBezTo>
                  <a:lnTo>
                    <a:pt x="4796409" y="0"/>
                  </a:lnTo>
                  <a:lnTo>
                    <a:pt x="4796409" y="6350"/>
                  </a:lnTo>
                  <a:lnTo>
                    <a:pt x="4796409" y="0"/>
                  </a:lnTo>
                  <a:cubicBezTo>
                    <a:pt x="4825238" y="0"/>
                    <a:pt x="4848733" y="23114"/>
                    <a:pt x="4848733" y="51689"/>
                  </a:cubicBezTo>
                  <a:lnTo>
                    <a:pt x="4842383" y="51689"/>
                  </a:lnTo>
                  <a:lnTo>
                    <a:pt x="4848733" y="51689"/>
                  </a:lnTo>
                  <a:lnTo>
                    <a:pt x="4848733" y="696849"/>
                  </a:lnTo>
                  <a:lnTo>
                    <a:pt x="4842383" y="696849"/>
                  </a:lnTo>
                  <a:lnTo>
                    <a:pt x="4848733" y="696849"/>
                  </a:lnTo>
                  <a:cubicBezTo>
                    <a:pt x="4848733" y="725551"/>
                    <a:pt x="4825238" y="748538"/>
                    <a:pt x="4796409" y="748538"/>
                  </a:cubicBezTo>
                  <a:lnTo>
                    <a:pt x="4796409" y="742188"/>
                  </a:lnTo>
                  <a:lnTo>
                    <a:pt x="4796409" y="748538"/>
                  </a:lnTo>
                  <a:lnTo>
                    <a:pt x="52324" y="748538"/>
                  </a:lnTo>
                  <a:lnTo>
                    <a:pt x="52324" y="742188"/>
                  </a:lnTo>
                  <a:lnTo>
                    <a:pt x="52324" y="748538"/>
                  </a:lnTo>
                  <a:cubicBezTo>
                    <a:pt x="23495" y="748538"/>
                    <a:pt x="0" y="725424"/>
                    <a:pt x="0" y="696849"/>
                  </a:cubicBezTo>
                  <a:lnTo>
                    <a:pt x="0" y="51689"/>
                  </a:lnTo>
                  <a:lnTo>
                    <a:pt x="6350" y="51689"/>
                  </a:lnTo>
                  <a:lnTo>
                    <a:pt x="0" y="51689"/>
                  </a:lnTo>
                  <a:moveTo>
                    <a:pt x="12700" y="51689"/>
                  </a:moveTo>
                  <a:lnTo>
                    <a:pt x="12700" y="696849"/>
                  </a:lnTo>
                  <a:lnTo>
                    <a:pt x="6350" y="696849"/>
                  </a:lnTo>
                  <a:lnTo>
                    <a:pt x="12700" y="696849"/>
                  </a:lnTo>
                  <a:cubicBezTo>
                    <a:pt x="12700" y="718312"/>
                    <a:pt x="30353" y="735838"/>
                    <a:pt x="52324" y="735838"/>
                  </a:cubicBezTo>
                  <a:lnTo>
                    <a:pt x="4796409" y="735838"/>
                  </a:lnTo>
                  <a:cubicBezTo>
                    <a:pt x="4818380" y="735838"/>
                    <a:pt x="4836033" y="718312"/>
                    <a:pt x="4836033" y="696849"/>
                  </a:cubicBezTo>
                  <a:lnTo>
                    <a:pt x="4836033" y="51689"/>
                  </a:lnTo>
                  <a:cubicBezTo>
                    <a:pt x="4836033" y="30226"/>
                    <a:pt x="4818380" y="12700"/>
                    <a:pt x="4796409" y="12700"/>
                  </a:cubicBezTo>
                  <a:lnTo>
                    <a:pt x="52324" y="12700"/>
                  </a:lnTo>
                  <a:lnTo>
                    <a:pt x="52324" y="6350"/>
                  </a:lnTo>
                  <a:lnTo>
                    <a:pt x="52324" y="12700"/>
                  </a:lnTo>
                  <a:cubicBezTo>
                    <a:pt x="30353" y="12700"/>
                    <a:pt x="12700" y="30226"/>
                    <a:pt x="12700" y="51689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4756252" y="5904605"/>
            <a:ext cx="3518144" cy="561384"/>
            <a:chOff x="0" y="0"/>
            <a:chExt cx="4690859" cy="74851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90872" cy="748538"/>
            </a:xfrm>
            <a:custGeom>
              <a:avLst/>
              <a:gdLst/>
              <a:ahLst/>
              <a:cxnLst/>
              <a:rect l="l" t="t" r="r" b="b"/>
              <a:pathLst>
                <a:path w="4690872" h="748538">
                  <a:moveTo>
                    <a:pt x="0" y="51689"/>
                  </a:moveTo>
                  <a:cubicBezTo>
                    <a:pt x="0" y="23114"/>
                    <a:pt x="23495" y="0"/>
                    <a:pt x="52324" y="0"/>
                  </a:cubicBezTo>
                  <a:lnTo>
                    <a:pt x="4638548" y="0"/>
                  </a:lnTo>
                  <a:lnTo>
                    <a:pt x="4638548" y="6350"/>
                  </a:lnTo>
                  <a:lnTo>
                    <a:pt x="4638548" y="0"/>
                  </a:lnTo>
                  <a:cubicBezTo>
                    <a:pt x="4667377" y="0"/>
                    <a:pt x="4690872" y="23114"/>
                    <a:pt x="4690872" y="51689"/>
                  </a:cubicBezTo>
                  <a:lnTo>
                    <a:pt x="4684522" y="51689"/>
                  </a:lnTo>
                  <a:lnTo>
                    <a:pt x="4690872" y="51689"/>
                  </a:lnTo>
                  <a:lnTo>
                    <a:pt x="4690872" y="696849"/>
                  </a:lnTo>
                  <a:lnTo>
                    <a:pt x="4684522" y="696849"/>
                  </a:lnTo>
                  <a:lnTo>
                    <a:pt x="4690872" y="696849"/>
                  </a:lnTo>
                  <a:cubicBezTo>
                    <a:pt x="4690872" y="725551"/>
                    <a:pt x="4667377" y="748538"/>
                    <a:pt x="4638548" y="748538"/>
                  </a:cubicBezTo>
                  <a:lnTo>
                    <a:pt x="4638548" y="742188"/>
                  </a:lnTo>
                  <a:lnTo>
                    <a:pt x="4638548" y="748538"/>
                  </a:lnTo>
                  <a:lnTo>
                    <a:pt x="52324" y="748538"/>
                  </a:lnTo>
                  <a:lnTo>
                    <a:pt x="52324" y="742188"/>
                  </a:lnTo>
                  <a:lnTo>
                    <a:pt x="52324" y="748538"/>
                  </a:lnTo>
                  <a:cubicBezTo>
                    <a:pt x="23495" y="748538"/>
                    <a:pt x="0" y="725424"/>
                    <a:pt x="0" y="696849"/>
                  </a:cubicBezTo>
                  <a:lnTo>
                    <a:pt x="0" y="51689"/>
                  </a:lnTo>
                  <a:lnTo>
                    <a:pt x="6350" y="51689"/>
                  </a:lnTo>
                  <a:lnTo>
                    <a:pt x="0" y="51689"/>
                  </a:lnTo>
                  <a:moveTo>
                    <a:pt x="12700" y="51689"/>
                  </a:moveTo>
                  <a:lnTo>
                    <a:pt x="12700" y="696849"/>
                  </a:lnTo>
                  <a:lnTo>
                    <a:pt x="6350" y="696849"/>
                  </a:lnTo>
                  <a:lnTo>
                    <a:pt x="12700" y="696849"/>
                  </a:lnTo>
                  <a:cubicBezTo>
                    <a:pt x="12700" y="718312"/>
                    <a:pt x="30353" y="735838"/>
                    <a:pt x="52324" y="735838"/>
                  </a:cubicBezTo>
                  <a:lnTo>
                    <a:pt x="4638548" y="735838"/>
                  </a:lnTo>
                  <a:cubicBezTo>
                    <a:pt x="4660519" y="735838"/>
                    <a:pt x="4678172" y="718312"/>
                    <a:pt x="4678172" y="696849"/>
                  </a:cubicBezTo>
                  <a:lnTo>
                    <a:pt x="4678172" y="51689"/>
                  </a:lnTo>
                  <a:cubicBezTo>
                    <a:pt x="4678172" y="30226"/>
                    <a:pt x="4660519" y="12700"/>
                    <a:pt x="4638548" y="12700"/>
                  </a:cubicBezTo>
                  <a:lnTo>
                    <a:pt x="52324" y="12700"/>
                  </a:lnTo>
                  <a:lnTo>
                    <a:pt x="52324" y="6350"/>
                  </a:lnTo>
                  <a:lnTo>
                    <a:pt x="52324" y="12700"/>
                  </a:lnTo>
                  <a:cubicBezTo>
                    <a:pt x="30353" y="12700"/>
                    <a:pt x="12700" y="30226"/>
                    <a:pt x="12700" y="51689"/>
                  </a:cubicBezTo>
                  <a:close/>
                </a:path>
              </a:pathLst>
            </a:custGeom>
            <a:solidFill>
              <a:srgbClr val="3E2513"/>
            </a:solidFill>
          </p:spPr>
          <p:txBody>
            <a:bodyPr numCol="1"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406555" y="5904605"/>
            <a:ext cx="3117209" cy="561384"/>
            <a:chOff x="0" y="0"/>
            <a:chExt cx="4156278" cy="74851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156202" cy="748538"/>
            </a:xfrm>
            <a:custGeom>
              <a:avLst/>
              <a:gdLst/>
              <a:ahLst/>
              <a:cxnLst/>
              <a:rect l="l" t="t" r="r" b="b"/>
              <a:pathLst>
                <a:path w="4156202" h="748538">
                  <a:moveTo>
                    <a:pt x="0" y="51689"/>
                  </a:moveTo>
                  <a:cubicBezTo>
                    <a:pt x="0" y="23114"/>
                    <a:pt x="23495" y="0"/>
                    <a:pt x="52324" y="0"/>
                  </a:cubicBezTo>
                  <a:lnTo>
                    <a:pt x="4103878" y="0"/>
                  </a:lnTo>
                  <a:lnTo>
                    <a:pt x="4103878" y="6350"/>
                  </a:lnTo>
                  <a:lnTo>
                    <a:pt x="4103878" y="0"/>
                  </a:lnTo>
                  <a:cubicBezTo>
                    <a:pt x="4132707" y="0"/>
                    <a:pt x="4156202" y="23114"/>
                    <a:pt x="4156202" y="51689"/>
                  </a:cubicBezTo>
                  <a:lnTo>
                    <a:pt x="4149852" y="51689"/>
                  </a:lnTo>
                  <a:lnTo>
                    <a:pt x="4156202" y="51689"/>
                  </a:lnTo>
                  <a:lnTo>
                    <a:pt x="4156202" y="696849"/>
                  </a:lnTo>
                  <a:lnTo>
                    <a:pt x="4149852" y="696849"/>
                  </a:lnTo>
                  <a:lnTo>
                    <a:pt x="4156202" y="696849"/>
                  </a:lnTo>
                  <a:cubicBezTo>
                    <a:pt x="4156202" y="725551"/>
                    <a:pt x="4132707" y="748538"/>
                    <a:pt x="4103878" y="748538"/>
                  </a:cubicBezTo>
                  <a:lnTo>
                    <a:pt x="4103878" y="742188"/>
                  </a:lnTo>
                  <a:lnTo>
                    <a:pt x="4103878" y="748538"/>
                  </a:lnTo>
                  <a:lnTo>
                    <a:pt x="52324" y="748538"/>
                  </a:lnTo>
                  <a:lnTo>
                    <a:pt x="52324" y="742188"/>
                  </a:lnTo>
                  <a:lnTo>
                    <a:pt x="52324" y="748538"/>
                  </a:lnTo>
                  <a:cubicBezTo>
                    <a:pt x="23495" y="748538"/>
                    <a:pt x="0" y="725424"/>
                    <a:pt x="0" y="696849"/>
                  </a:cubicBezTo>
                  <a:lnTo>
                    <a:pt x="0" y="51689"/>
                  </a:lnTo>
                  <a:lnTo>
                    <a:pt x="6350" y="51689"/>
                  </a:lnTo>
                  <a:lnTo>
                    <a:pt x="0" y="51689"/>
                  </a:lnTo>
                  <a:moveTo>
                    <a:pt x="12700" y="51689"/>
                  </a:moveTo>
                  <a:lnTo>
                    <a:pt x="12700" y="696849"/>
                  </a:lnTo>
                  <a:lnTo>
                    <a:pt x="6350" y="696849"/>
                  </a:lnTo>
                  <a:lnTo>
                    <a:pt x="12700" y="696849"/>
                  </a:lnTo>
                  <a:cubicBezTo>
                    <a:pt x="12700" y="718312"/>
                    <a:pt x="30353" y="735838"/>
                    <a:pt x="52324" y="735838"/>
                  </a:cubicBezTo>
                  <a:lnTo>
                    <a:pt x="4103878" y="735838"/>
                  </a:lnTo>
                  <a:cubicBezTo>
                    <a:pt x="4125849" y="735838"/>
                    <a:pt x="4143502" y="718312"/>
                    <a:pt x="4143502" y="696849"/>
                  </a:cubicBezTo>
                  <a:lnTo>
                    <a:pt x="4143502" y="51689"/>
                  </a:lnTo>
                  <a:cubicBezTo>
                    <a:pt x="4143502" y="30226"/>
                    <a:pt x="4125849" y="12700"/>
                    <a:pt x="4103878" y="12700"/>
                  </a:cubicBezTo>
                  <a:lnTo>
                    <a:pt x="52324" y="12700"/>
                  </a:lnTo>
                  <a:lnTo>
                    <a:pt x="52324" y="6350"/>
                  </a:lnTo>
                  <a:lnTo>
                    <a:pt x="52324" y="12700"/>
                  </a:lnTo>
                  <a:cubicBezTo>
                    <a:pt x="30353" y="12700"/>
                    <a:pt x="12700" y="30226"/>
                    <a:pt x="12700" y="51689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693</Words>
  <Application>Microsoft Office PowerPoint</Application>
  <PresentationFormat>Custom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Source Serif Pro Bold</vt:lpstr>
      <vt:lpstr>Calibri</vt:lpstr>
      <vt:lpstr>Arial</vt:lpstr>
      <vt:lpstr>Arimo</vt:lpstr>
      <vt:lpstr>Source Serif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Vedant Eshi</cp:lastModifiedBy>
  <cp:revision>2</cp:revision>
  <dcterms:created xsi:type="dcterms:W3CDTF">2006-08-16T00:00:00Z</dcterms:created>
  <dcterms:modified xsi:type="dcterms:W3CDTF">2026-04-26T12:21:00Z</dcterms:modified>
  <dc:identifier>DAHH9GbjU1k</dc:identifier>
</cp:coreProperties>
</file>